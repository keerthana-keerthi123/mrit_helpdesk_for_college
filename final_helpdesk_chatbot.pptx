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8" r:id="rId3"/>
    <p:sldId id="263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71" r:id="rId13"/>
    <p:sldId id="269" r:id="rId14"/>
    <p:sldId id="270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ana m" userId="29aa94e6dc040972" providerId="LiveId" clId="{A782B755-448F-4DD7-837A-77DA60BE448F}"/>
    <pc:docChg chg="modSld">
      <pc:chgData name="keerthana m" userId="29aa94e6dc040972" providerId="LiveId" clId="{A782B755-448F-4DD7-837A-77DA60BE448F}" dt="2026-01-08T13:59:16.690" v="13" actId="20577"/>
      <pc:docMkLst>
        <pc:docMk/>
      </pc:docMkLst>
      <pc:sldChg chg="modSp mod">
        <pc:chgData name="keerthana m" userId="29aa94e6dc040972" providerId="LiveId" clId="{A782B755-448F-4DD7-837A-77DA60BE448F}" dt="2026-01-08T13:59:16.690" v="13" actId="20577"/>
        <pc:sldMkLst>
          <pc:docMk/>
          <pc:sldMk cId="1609249114" sldId="267"/>
        </pc:sldMkLst>
        <pc:spChg chg="mod">
          <ac:chgData name="keerthana m" userId="29aa94e6dc040972" providerId="LiveId" clId="{A782B755-448F-4DD7-837A-77DA60BE448F}" dt="2026-01-08T13:59:16.690" v="13" actId="20577"/>
          <ac:spMkLst>
            <pc:docMk/>
            <pc:sldMk cId="1609249114" sldId="267"/>
            <ac:spMk id="11" creationId="{344BF92A-E836-9EF7-79D0-3C95A100738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A11A11A-83D5-F778-C5C3-5630554DBB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34F1D6-843A-B243-C918-A744BA6013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FF855F-E2E5-4AFE-8352-88BF0C7698CA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780A74-75BF-6479-BAF1-6FE95E9F72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F3297-7CFD-0CC6-3A0E-1E31CCDF6D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F629D-929C-4782-81C8-61DBD425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8487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A2697-9823-4D5E-BCA9-D4C7DCFB17DA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6774B-6739-47AE-B3E6-B012AE6E42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60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6774B-6739-47AE-B3E6-B012AE6E42F9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189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36774B-6739-47AE-B3E6-B012AE6E42F9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439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F414-E540-C97E-5F15-CBD237C4F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4644C-4F37-4C25-1EBA-0E926617D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9F574-1E50-6CE2-3D12-26AA0389C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C89BA-130A-459A-9137-2C5EAC64BFDF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495AD-9C1A-FD56-705F-EC4F08C1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CC229-6F1C-6B47-0309-83A01527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90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5BDED-74ED-5CCA-A2FA-C7B104D7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FDCEE-48A9-139B-AD66-54613DCBC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BF9E7-EF1E-B094-361D-88E8EABB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A08A7-E88C-45ED-B7C4-87B42F936DA1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9EFF8-94D2-5D49-483E-4C697C79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EBA3-1656-5FD0-64B9-67D685CA6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0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582FE-6417-1DB6-1DAB-5C3544D2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73B49-51A3-A82E-30E8-C04D45AB4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A2C6F-2E3F-328E-0E7C-7429BAD89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F65E-E998-45D7-BC45-4DD2059F9747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245FD-2B34-52DB-374A-1B117ADA5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099DD-CDF6-0643-4D6B-E4EB7E2BA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28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0A6DB-1F4A-8505-74EA-505FBE3A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27392-F758-B224-503B-92C136775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11D3F-F1C7-47C5-398E-7D3B38D03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EF8D9-2160-BDCB-A3EB-5C407CF88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F9802-FDC8-4A47-81DD-C920A2E08228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55BAE-EF14-98B4-7F16-0FE5DD2CE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03D47-E009-76A9-10DA-FEA22A742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63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E529-55F9-FE57-4C6D-BEE797B6B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8D0AE-F64E-1AD8-390A-484A3A1B0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B69B10-E281-893E-8181-3F50108B19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B6BF7-E968-B62A-C29E-43922E499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618ED9-4C47-9109-7E92-AF994477F6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936FB-F81F-F3CF-C81F-8BC934AE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316FE-53B4-4D4A-BB91-26F52EE003E3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43FC0-0058-BD63-4BF5-4CB93C8B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14CBF5-F190-4E3F-A0FB-1E026417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8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D8A5-F93F-7ABF-21CD-5C676796B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C3AB1-B004-ED66-92E2-FB533BB2F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CD4F4-AED0-46CC-B15C-14D3F18F7F4F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89105-02CD-E4F1-1A8C-6398E6FEC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9FCDF-73F2-2D2D-E688-7D5DBA2C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0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AF3239-3269-6790-1C76-F8F93A81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B2198-C391-4F56-9E8C-605248CD3024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DE999D-97CD-8C5F-5167-EBFB6B9D5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D8471-F1E2-7150-7E57-2883D7F8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0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3F73-C135-5A38-B5F9-8C16AE1C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6F52-D4E8-20D9-6F37-AA8DEFE1D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C1728-3E95-CE79-E369-38F1131F9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03DC2-DAFF-16B2-93ED-34AC673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82C5F-0189-4E69-BEBA-32E200C1DFB5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77E8A-3042-EAA3-DC78-8B7D09C19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EA020-CB34-B69D-E520-A03E4312C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62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8537B-8AC4-6252-C219-DAB3CC6DE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92C5F-C884-37E4-58BD-8D98020E6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C9806F-271B-E915-76D4-285ED97BDC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8E800-F08C-B5B8-3F00-43D4453F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3DA-E6BF-4100-8E9E-00C3798970F8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ED1EA-167B-6927-6540-F8586AAF0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134D4-C391-A64C-1B95-70DE409F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70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561BE-1E7A-A2AF-D4CC-E70C4408A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146748-9B26-D002-8E41-CF0ECC165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783CD-7B27-FE65-5551-D0D84ACAD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6A9E2-8C38-4367-AEB5-F2EE82717657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5AB14-0C67-8B11-1A60-3ACA4003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8CEAE-B2F8-6807-E205-90CC6D13B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30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0F330-6353-1D90-684D-F7E9B85518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27680-1F46-EE9B-3F13-7A1CD2E45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22F36-49F1-ED06-A524-93F909659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F9530-B7AF-4F52-965E-C658FF574AF4}" type="datetime2">
              <a:rPr lang="en-US" smtClean="0"/>
              <a:t>Thursday, January 8,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45C79-F53B-8484-37D6-A7BF633C5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C69C5-9379-5C20-59E0-0F467CF7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90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26EAF0-07A6-B94F-C5A9-0D01DE1AA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479AB-F10B-D112-44E7-F5C9C78BD7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041B4-DDA3-0431-1A53-CA4A2F376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E8CDB-8D75-41B8-9ABC-55C5EF9BD2BC}" type="datetime2">
              <a:rPr lang="en-US" smtClean="0"/>
              <a:t>Thursday, January 8, 2026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C0609-590C-926E-2E05-D6515C78F0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r>
              <a:rPr lang="en-US"/>
              <a:t>Dept of CSE, MRIT, Mandya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4FA5B-7FA3-47C3-D705-50CA59B95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93214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AE104A-AC8B-C491-FB3F-A3FAA8D725BB}"/>
              </a:ext>
            </a:extLst>
          </p:cNvPr>
          <p:cNvSpPr txBox="1"/>
          <p:nvPr/>
        </p:nvSpPr>
        <p:spPr>
          <a:xfrm>
            <a:off x="1253765" y="247818"/>
            <a:ext cx="95236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">
              <a:buNone/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MYSURU ROYAL INSTITUTE OF TECHNOLOGY</a:t>
            </a:r>
          </a:p>
          <a:p>
            <a:pPr algn="ctr" fontAlgn="b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(Approved by AICTE New Delhi, Govt. of Karnataka Affiliated to VTU BELAGAVI)</a:t>
            </a:r>
          </a:p>
          <a:p>
            <a:pPr algn="ctr" fontAlgn="b"/>
            <a:r>
              <a:rPr lang="en-IN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Lakshmipura road, Palahally Post, Off Mysuru-Bengaluru Highway, SR Patna, MANDYA -571606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95B21-CD67-E46A-33C9-3CFEC30FD3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65487E-B498-0A62-5AF5-FBF18E71E091}"/>
              </a:ext>
            </a:extLst>
          </p:cNvPr>
          <p:cNvSpPr txBox="1"/>
          <p:nvPr/>
        </p:nvSpPr>
        <p:spPr>
          <a:xfrm>
            <a:off x="1725105" y="1577315"/>
            <a:ext cx="91371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  <a:endParaRPr lang="en-IN" sz="24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8253EB-07D1-3040-D7B2-E9061E926108}"/>
              </a:ext>
            </a:extLst>
          </p:cNvPr>
          <p:cNvSpPr txBox="1"/>
          <p:nvPr/>
        </p:nvSpPr>
        <p:spPr>
          <a:xfrm>
            <a:off x="2821782" y="2176902"/>
            <a:ext cx="60944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2D1275-30B5-2793-D916-1592F71B5A55}"/>
              </a:ext>
            </a:extLst>
          </p:cNvPr>
          <p:cNvSpPr txBox="1"/>
          <p:nvPr/>
        </p:nvSpPr>
        <p:spPr>
          <a:xfrm>
            <a:off x="1725105" y="3261478"/>
            <a:ext cx="88706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“AI POWERED WEB HELPDESK FOR COLLEGE INSTITUTION” 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33B21A-6213-709A-4A68-1CA2F924EA83}"/>
              </a:ext>
            </a:extLst>
          </p:cNvPr>
          <p:cNvSpPr txBox="1"/>
          <p:nvPr/>
        </p:nvSpPr>
        <p:spPr>
          <a:xfrm>
            <a:off x="0" y="4206255"/>
            <a:ext cx="6081068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BHUMIKA V	[4MU22CS005]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KEERTHANA M	[4MU22CS030]</a:t>
            </a: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43144F-F4D9-C14C-B9C0-1C42CF6FE30D}"/>
              </a:ext>
            </a:extLst>
          </p:cNvPr>
          <p:cNvSpPr txBox="1"/>
          <p:nvPr/>
        </p:nvSpPr>
        <p:spPr>
          <a:xfrm>
            <a:off x="7194222" y="4409908"/>
            <a:ext cx="5137608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Prof . </a:t>
            </a:r>
            <a:r>
              <a:rPr lang="en-IN" sz="2000" b="1" dirty="0"/>
              <a:t>SEEMA FIRDOS 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Assistant Professor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Dept of CSE, MRIT,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Mandya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84C03D-3FF7-8640-0083-4C413E7E5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85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2F8E7-C310-1CE0-15A4-ECC5172E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1531AD-44DD-B51D-362C-6C6FBC6236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2AEA1E-E086-EC7A-3171-4423B749BB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170A8D-B74E-41C2-1376-7D695D69FF1A}"/>
              </a:ext>
            </a:extLst>
          </p:cNvPr>
          <p:cNvSpPr txBox="1"/>
          <p:nvPr/>
        </p:nvSpPr>
        <p:spPr>
          <a:xfrm>
            <a:off x="1887718" y="606260"/>
            <a:ext cx="59836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951A23-270E-A25E-5579-98D5A1414F0B}"/>
              </a:ext>
            </a:extLst>
          </p:cNvPr>
          <p:cNvSpPr txBox="1"/>
          <p:nvPr/>
        </p:nvSpPr>
        <p:spPr>
          <a:xfrm>
            <a:off x="1338606" y="1154358"/>
            <a:ext cx="9671901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Specifications (Hardware / Software Requirements)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Anticipated Output / Results and Discussions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FAC9BB4-5CE2-D504-EF74-F4B8E7BB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718794" y="6486810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3DA395D-13A3-2810-FCB2-BD02195BF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6809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3BC215-B215-E31D-9ABC-66A7F40949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10CDD-8A13-A488-79E5-C33D1E487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A2CDE9E-EB80-8CA4-FE15-9ED41E4E73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D728A4-D0E5-46F4-A8C6-EE378E3C3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8EBD9D-826B-9ADE-A412-72209CD7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>
            <a:normAutofit/>
          </a:bodyPr>
          <a:lstStyle/>
          <a:p>
            <a:r>
              <a:rPr lang="en-US" dirty="0"/>
              <a:t>                </a:t>
            </a:r>
            <a:r>
              <a:rPr lang="en-US" b="1" dirty="0"/>
              <a:t>1.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/>
              <a:t>  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F68E-BE57-372C-F791-887A9FD62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delays in getting answers for common queries (fees, timetable, faculty contact, events, syllabus).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communication channels (notice boards, office desks) are time-consuming and not available 24/7.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centralized, instant, and interactive platform for student queries.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voice support makes it less accessible for differently-abled or multilingual students.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24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CD2F848C-E07E-B3A7-D06F-B90097C3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1F2345A-0D69-EF17-01D3-916B2EFFB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F52B6D-2306-2995-CA4F-C6C5140064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20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D9840-63D9-4975-CCE3-9B9D61311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2E4DCA-053B-6BB9-D810-704C1024FA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F8EF50-8EE0-8506-6E7D-83F85B2E5B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80DF28-B6C5-1EC9-69E9-EAC42C360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dirty="0"/>
              <a:t>                      </a:t>
            </a:r>
            <a:r>
              <a:rPr lang="en-US" b="1" dirty="0"/>
              <a:t>2.</a:t>
            </a:r>
            <a:r>
              <a:rPr lang="en-US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4823E-4674-F81B-EAAE-CC68FAA51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673" y="1953043"/>
            <a:ext cx="10800127" cy="431896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Efficient communication is essential in educational institutions, but traditional methods like notice boards and manual inquiry counters are slow and inconvenient, causing delays and extra workload.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Many students, especially differently-abled and multilingual learners, face difficulties accessing information.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AI-based helpdesk systems provide instant, accurate responses through text or voice, centralizing information, improving accessibility, and reducing administrative effort while supporting smart campus development.</a:t>
            </a:r>
            <a:endParaRPr lang="en-IN" sz="24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31BBEFC-1133-267F-FB18-245342ACA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7151049-5084-E1FE-EC37-DDACBC9E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0FFBD-2C65-AFBA-8354-A28B32288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56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DDEA-E454-A8B5-4EEC-F8EF1B09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A6A735-684D-7E5C-B561-A1571357BE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15B666-71EB-9386-7696-16F8404AB7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C0CCE8-C282-8708-A206-99519EEFA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b="1" dirty="0"/>
              <a:t>                   3.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Motivation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884DA-C5F3-44E1-2B31-94FA9D45A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Students face delays and frustration due to slow manual inquiry systems like notice boards and office visits, while staff handle repetitive queries that increase workload.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Traditional methods are not accessible to differently-abled or multilingual students.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With AI advancements, an automated helpdesk can offer instant, accurate 24/7 support, centralize information, reduce staff burden, and modernize campuses through smart digital communication.</a:t>
            </a:r>
            <a:endParaRPr lang="en-IN" sz="24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F590CD4-DBBD-28B0-DCA6-9862B0E4C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99DE5E9-DBA8-124D-60C8-1C128308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FC1FC4-B090-C94A-FDAA-5A9578230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00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5906-7559-0276-BA6F-34B054019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541545-94E6-F272-2D4D-2570A9A219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D693EC-C03F-D142-DCEE-E54A8D05BD6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E1BED6-98F8-14D7-0649-53691CFAE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b="1" dirty="0"/>
              <a:t>                  4.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 Survey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24E8A80-925A-BC72-C910-0E6C1C44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C5413B5-FDB2-5AA7-6EC8-842CA161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2330FD-B74F-9C59-5ADF-94F4DF333B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483B3655-F3FC-5049-1755-AE747BC1FF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655897"/>
              </p:ext>
            </p:extLst>
          </p:nvPr>
        </p:nvGraphicFramePr>
        <p:xfrm>
          <a:off x="1381630" y="1088652"/>
          <a:ext cx="9438770" cy="5394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87754">
                  <a:extLst>
                    <a:ext uri="{9D8B030D-6E8A-4147-A177-3AD203B41FA5}">
                      <a16:colId xmlns:a16="http://schemas.microsoft.com/office/drawing/2014/main" val="2574844348"/>
                    </a:ext>
                  </a:extLst>
                </a:gridCol>
                <a:gridCol w="1887754">
                  <a:extLst>
                    <a:ext uri="{9D8B030D-6E8A-4147-A177-3AD203B41FA5}">
                      <a16:colId xmlns:a16="http://schemas.microsoft.com/office/drawing/2014/main" val="4148172252"/>
                    </a:ext>
                  </a:extLst>
                </a:gridCol>
                <a:gridCol w="1887754">
                  <a:extLst>
                    <a:ext uri="{9D8B030D-6E8A-4147-A177-3AD203B41FA5}">
                      <a16:colId xmlns:a16="http://schemas.microsoft.com/office/drawing/2014/main" val="1623077589"/>
                    </a:ext>
                  </a:extLst>
                </a:gridCol>
                <a:gridCol w="1887754">
                  <a:extLst>
                    <a:ext uri="{9D8B030D-6E8A-4147-A177-3AD203B41FA5}">
                      <a16:colId xmlns:a16="http://schemas.microsoft.com/office/drawing/2014/main" val="1399769864"/>
                    </a:ext>
                  </a:extLst>
                </a:gridCol>
                <a:gridCol w="1887754">
                  <a:extLst>
                    <a:ext uri="{9D8B030D-6E8A-4147-A177-3AD203B41FA5}">
                      <a16:colId xmlns:a16="http://schemas.microsoft.com/office/drawing/2014/main" val="380185753"/>
                    </a:ext>
                  </a:extLst>
                </a:gridCol>
              </a:tblGrid>
              <a:tr h="28911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Title of Paper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Authors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Features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Limitations</a:t>
                      </a:r>
                      <a:endParaRPr lang="en-IN" sz="15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5628268"/>
                  </a:ext>
                </a:extLst>
              </a:tr>
              <a:tr h="1115160"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College Enquiry Chatbot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Jana Preethi S.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• Questions about courses.</a:t>
                      </a:r>
                    </a:p>
                    <a:p>
                      <a:pPr algn="l"/>
                      <a:r>
                        <a:rPr lang="en-US" sz="1500" dirty="0"/>
                        <a:t>• Reduces the need for in-person or phone enquiries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• Mainly handles fixed or FAQ-type questions</a:t>
                      </a:r>
                    </a:p>
                    <a:p>
                      <a:pPr algn="l"/>
                      <a:r>
                        <a:rPr lang="en-US" sz="1500" dirty="0"/>
                        <a:t>• Unclear queries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65999"/>
                  </a:ext>
                </a:extLst>
              </a:tr>
              <a:tr h="134882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Helpdesk Chatbot for Incident Classification and Resolution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D. Tipe-Palomino &amp; W. Auccahuasi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• Uses NLP and deep learning to classify incidents</a:t>
                      </a:r>
                    </a:p>
                    <a:p>
                      <a:pPr algn="l"/>
                      <a:r>
                        <a:rPr lang="en-US" sz="1500" dirty="0"/>
                        <a:t>• Suggests or automates technical solutions as first-level support.</a:t>
                      </a:r>
                    </a:p>
                    <a:p>
                      <a:pPr algn="l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•May misclassify rare or new problems</a:t>
                      </a:r>
                    </a:p>
                    <a:p>
                      <a:pPr algn="l"/>
                      <a:r>
                        <a:rPr lang="en-US" sz="1500" dirty="0"/>
                        <a:t>• Still needs human staff for complex cases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21800"/>
                  </a:ext>
                </a:extLst>
              </a:tr>
              <a:tr h="173469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AI-based College Enquiry Chatbot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Gaurav </a:t>
                      </a:r>
                      <a:r>
                        <a:rPr lang="en-US" sz="1500" dirty="0" err="1"/>
                        <a:t>Sambhe</a:t>
                      </a:r>
                      <a:r>
                        <a:rPr lang="en-US" sz="1500" dirty="0"/>
                        <a:t>, </a:t>
                      </a:r>
                      <a:r>
                        <a:rPr lang="en-US" sz="1500" dirty="0" err="1"/>
                        <a:t>Shanal</a:t>
                      </a:r>
                      <a:r>
                        <a:rPr lang="en-US" sz="1500" dirty="0"/>
                        <a:t> Awaze, Shraddha Bobade, </a:t>
                      </a:r>
                      <a:r>
                        <a:rPr lang="en-US" sz="1500" dirty="0" err="1"/>
                        <a:t>Sukesha</a:t>
                      </a:r>
                      <a:r>
                        <a:rPr lang="en-US" sz="1500" dirty="0"/>
                        <a:t> </a:t>
                      </a:r>
                      <a:r>
                        <a:rPr lang="en-US" sz="1500" dirty="0" err="1"/>
                        <a:t>Bhagwatkar</a:t>
                      </a:r>
                      <a:r>
                        <a:rPr lang="en-US" sz="1500" dirty="0"/>
                        <a:t>, Prachi Bhoyar</a:t>
                      </a:r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500" dirty="0"/>
                        <a:t>• Gives instant information on admissions, events, notices and activities</a:t>
                      </a:r>
                    </a:p>
                    <a:p>
                      <a:pPr algn="l"/>
                      <a:r>
                        <a:rPr lang="en-IN" sz="1500" dirty="0"/>
                        <a:t>• Lets students ask questions in natural language</a:t>
                      </a:r>
                    </a:p>
                    <a:p>
                      <a:pPr algn="l"/>
                      <a:endParaRPr lang="en-IN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/>
                        <a:t>• Limited to specific questions and</a:t>
                      </a:r>
                    </a:p>
                    <a:p>
                      <a:pPr algn="l"/>
                      <a:r>
                        <a:rPr lang="en-US" sz="1500" dirty="0"/>
                        <a:t>Don’t respond to similar queries.</a:t>
                      </a:r>
                      <a:endParaRPr lang="en-IN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7583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591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32F4B-4C65-D5C5-8EEA-930AE924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C0E6DD-09E8-FD02-FA16-8FC7629A2E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2FF80C-9D9C-0F19-39DD-1A0842E509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85B27F-D165-BB3D-EA9D-380381AB0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dirty="0"/>
              <a:t>                     </a:t>
            </a:r>
            <a:r>
              <a:rPr lang="en-US" b="1" dirty="0"/>
              <a:t>5.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9A6F0A-569E-DAEE-A649-6733A2A37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B0FF9D7-01F9-FF49-34ED-BF28BA67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30880-45D7-D057-91A1-B5C0F399D937}"/>
              </a:ext>
            </a:extLst>
          </p:cNvPr>
          <p:cNvSpPr txBox="1"/>
          <p:nvPr/>
        </p:nvSpPr>
        <p:spPr>
          <a:xfrm>
            <a:off x="1065402" y="1690688"/>
            <a:ext cx="11056690" cy="41441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Develop an AI-based helpdesk that provides instant responses to student queries.   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Centralize academic and administrative information on a single platform.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Ensure 24/7 access with automated chatbot support.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Enable text and voice interaction with multilingual capability.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Reduce repetitive work for administrative staff and improve efficiency.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Provide an easy-to-use interface for web and mobile users.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Integrate with college information accessibility to all 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Arial" panose="020B0604020202020204" pitchFamily="34" charset="0"/>
              </a:rPr>
              <a:t> Support future expansion like website and mobile apps.</a:t>
            </a:r>
          </a:p>
          <a:p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18084A-DCBE-5A94-EF1A-D39DEF724B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1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EF435-120C-8CCF-860B-431AFB2C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98D37F-CD70-6F0C-DF42-15666F22CA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22A419-9E10-EAD8-05E5-D99311B750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26C86E-40A7-F83D-FBDD-BF3AD96B6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Methodology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92C03A37-CF27-A7D4-C1EA-FE7748E3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FA2B754-C581-7F15-56CA-C388B384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D64281F-F3F2-AF2E-45AF-3311C7D390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752" y="1393226"/>
            <a:ext cx="7172587" cy="4783737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99C7EB-01AE-D67F-2B4F-4E8BD1A417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77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4C87-1C8E-B50E-1E65-DDAD0D438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461493-7101-3D5C-CF3F-D6D102B626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674BBA-8951-59EE-A493-011C4EB32A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C6CFBA-EA11-27FF-B998-30215CEC7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>
            <a:normAutofit/>
          </a:bodyPr>
          <a:lstStyle/>
          <a:p>
            <a:r>
              <a:rPr lang="en-US" sz="4800" b="1" dirty="0"/>
              <a:t>   How the methodology works :</a:t>
            </a:r>
            <a:endParaRPr lang="en-IN" b="1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5F0A4AD-99B3-1D8E-AC44-2DB5D9E6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9A49F24-04E7-9877-0376-A4C18EE47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2CAD7C2-EFEE-E8A9-EA3E-20FED9E39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8623" y="1047892"/>
            <a:ext cx="10352015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Interface: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Web-based chat interface for seamless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NLP Engine (Dialog flow):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text/voice and identifies intent.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Backend (Flask):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logic, communication, and data flow.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Data</a:t>
            </a:r>
            <a:r>
              <a:rPr lang="en-US" altLang="en-US" sz="2400" b="1" dirty="0">
                <a:latin typeface="Arial" panose="020B0604020202020204" pitchFamily="34" charset="0"/>
              </a:rPr>
              <a:t> stored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Json which Stores institutional information and logs.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Admin Panel: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Manages data updates, FAQs, and announcements.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A7DCBC-2FD0-2ABF-FFFD-52034EE599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9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56AFE-9ACA-D3AE-6E2E-A88B9A5ED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94528C-2438-2872-A316-E54242F2CA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63DBD8-B422-FB65-E905-4A07F7D448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50429D-7803-F614-E41D-A1793B95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6" y="414204"/>
            <a:ext cx="9438771" cy="1325563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7. Design Specifications 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(Hardware and Software Requirements)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343047AD-5EA4-8D1F-5A28-B1ABA599C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E1F1601-07FB-C840-6B35-DA314063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FE7E5-EE8C-CA1C-2BEE-7DE35F5588F0}"/>
              </a:ext>
            </a:extLst>
          </p:cNvPr>
          <p:cNvSpPr txBox="1"/>
          <p:nvPr/>
        </p:nvSpPr>
        <p:spPr>
          <a:xfrm>
            <a:off x="148046" y="1739767"/>
            <a:ext cx="55061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u="sng" dirty="0">
                <a:solidFill>
                  <a:srgbClr val="002060"/>
                </a:solidFill>
              </a:rPr>
              <a:t>Minimum Requirements (Client-Side):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Processor: Dual-core 2.0 GHz RAM: 4 GB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Storage: 256 GB HDD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 Network: 4G Internet / Wi-Fi      connectivity 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4BF92A-E836-9EF7-79D0-3C95A100738B}"/>
              </a:ext>
            </a:extLst>
          </p:cNvPr>
          <p:cNvSpPr txBox="1"/>
          <p:nvPr/>
        </p:nvSpPr>
        <p:spPr>
          <a:xfrm>
            <a:off x="6006517" y="1739767"/>
            <a:ext cx="567095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u="sng" dirty="0">
                <a:solidFill>
                  <a:srgbClr val="002060"/>
                </a:solidFill>
              </a:rPr>
              <a:t>Recommended Requirements (Server-Side):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Processor: Quad-core </a:t>
            </a:r>
            <a:r>
              <a:rPr lang="en-IN" sz="2000"/>
              <a:t>3.0 GHz</a:t>
            </a:r>
            <a:endParaRPr lang="en-IN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RAM: 16 GB (for AI model processing)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Storage: 1 TB SSD (fast data retrieval and logging)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Network: High-speed broadband with minimum 100 Mbps bandwidth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A64A6E-126B-12B4-5EAA-E701BC5D5920}"/>
              </a:ext>
            </a:extLst>
          </p:cNvPr>
          <p:cNvSpPr txBox="1"/>
          <p:nvPr/>
        </p:nvSpPr>
        <p:spPr>
          <a:xfrm>
            <a:off x="3162650" y="1585519"/>
            <a:ext cx="45384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              </a:t>
            </a:r>
            <a:r>
              <a:rPr lang="en-IN" sz="2400" b="1" dirty="0">
                <a:solidFill>
                  <a:srgbClr val="C00000"/>
                </a:solidFill>
              </a:rPr>
              <a:t>Hardware Requirements :</a:t>
            </a:r>
            <a:endParaRPr lang="en-IN" sz="2000" dirty="0">
              <a:solidFill>
                <a:srgbClr val="C0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E1ECFC-7540-0A10-270B-1A93902D6069}"/>
              </a:ext>
            </a:extLst>
          </p:cNvPr>
          <p:cNvCxnSpPr>
            <a:cxnSpLocks/>
          </p:cNvCxnSpPr>
          <p:nvPr/>
        </p:nvCxnSpPr>
        <p:spPr>
          <a:xfrm>
            <a:off x="5654180" y="2047184"/>
            <a:ext cx="0" cy="46472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30EB4BB-3327-62CB-6134-08AF2B45E1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4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CB16-B59B-2753-32BA-0EFEDCDA1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45673A-4A22-37EB-2208-699A7B1787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ABEC5C-F748-07C8-F005-856BE5BD30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8BCD72-636E-E54B-696E-03524270F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>
            <a:normAutofit/>
          </a:bodyPr>
          <a:lstStyle/>
          <a:p>
            <a:r>
              <a:rPr lang="en-IN" sz="2400" dirty="0"/>
              <a:t>                                               </a:t>
            </a:r>
            <a:br>
              <a:rPr lang="en-IN" sz="2400" dirty="0"/>
            </a:br>
            <a:r>
              <a:rPr lang="en-IN" sz="2400" dirty="0"/>
              <a:t>                                          </a:t>
            </a:r>
            <a:r>
              <a:rPr lang="en-IN" sz="2400" b="1" dirty="0">
                <a:solidFill>
                  <a:srgbClr val="C00000"/>
                </a:solidFill>
              </a:rPr>
              <a:t>Software Requirements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2504E-A05F-E7CA-36FC-7140FAB5D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/>
              <a:t>Operating System: </a:t>
            </a:r>
            <a:r>
              <a:rPr lang="en-IN" sz="2000" dirty="0"/>
              <a:t>Windows , Android (mobile app). </a:t>
            </a:r>
            <a:endParaRPr lang="en-IN" sz="2400" dirty="0"/>
          </a:p>
          <a:p>
            <a:pPr>
              <a:lnSpc>
                <a:spcPct val="100000"/>
              </a:lnSpc>
            </a:pPr>
            <a:r>
              <a:rPr lang="en-IN" sz="2400" b="1" dirty="0"/>
              <a:t>Programming Languages: </a:t>
            </a:r>
            <a:r>
              <a:rPr lang="en-IN" sz="2000" dirty="0"/>
              <a:t>Python (NLP, backend), Json, html, CSS, JavaScript (frontend).</a:t>
            </a:r>
            <a:endParaRPr lang="en-IN" sz="2400" dirty="0"/>
          </a:p>
          <a:p>
            <a:pPr>
              <a:lnSpc>
                <a:spcPct val="100000"/>
              </a:lnSpc>
            </a:pPr>
            <a:r>
              <a:rPr lang="en-IN" sz="2400" b="1" dirty="0"/>
              <a:t>Frameworks</a:t>
            </a:r>
            <a:r>
              <a:rPr lang="en-IN" sz="2000" b="1" dirty="0"/>
              <a:t>:</a:t>
            </a:r>
            <a:r>
              <a:rPr lang="en-IN" sz="2000" dirty="0"/>
              <a:t> Flask (backend). </a:t>
            </a:r>
            <a:endParaRPr lang="en-IN" sz="2400" dirty="0"/>
          </a:p>
          <a:p>
            <a:pPr>
              <a:lnSpc>
                <a:spcPct val="100000"/>
              </a:lnSpc>
            </a:pPr>
            <a:r>
              <a:rPr lang="en-IN" sz="2400" b="1" dirty="0"/>
              <a:t>Data stores:</a:t>
            </a:r>
            <a:r>
              <a:rPr lang="en-IN" sz="2400" dirty="0"/>
              <a:t> </a:t>
            </a:r>
            <a:r>
              <a:rPr lang="en-IN" sz="2000" dirty="0"/>
              <a:t>Json</a:t>
            </a:r>
            <a:endParaRPr lang="en-IN" sz="2400" dirty="0"/>
          </a:p>
          <a:p>
            <a:pPr>
              <a:lnSpc>
                <a:spcPct val="100000"/>
              </a:lnSpc>
            </a:pPr>
            <a:r>
              <a:rPr lang="en-IN" sz="2400" b="1" dirty="0"/>
              <a:t>APIs and Tools: </a:t>
            </a:r>
            <a:r>
              <a:rPr lang="en-IN" sz="2000" dirty="0"/>
              <a:t>Speech-to-Text , Text-to-Speech. </a:t>
            </a:r>
          </a:p>
          <a:p>
            <a:pPr>
              <a:lnSpc>
                <a:spcPct val="100000"/>
              </a:lnSpc>
            </a:pPr>
            <a:r>
              <a:rPr lang="en-IN" sz="2400" b="1" dirty="0"/>
              <a:t>Version Control: </a:t>
            </a:r>
            <a:r>
              <a:rPr lang="en-IN" sz="2000" dirty="0"/>
              <a:t>GitHub for collaborative development.</a:t>
            </a: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4CE62FC-1D7E-1FEB-B8AF-D7C5891F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5B6262E-3B90-64A4-34AA-3C1D89C02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3ED10A-6BAC-6AE8-EA02-296847899A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104529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6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6398-CA60-4CB0-89C7-73740741A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F54518-9BEF-931E-ED17-217427E518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2FD339-B207-77A6-FF67-3C65FAF3AA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00E0B3-B9BA-213F-8E46-810F4A0A1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8. Implementation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3C86ABB-9B4C-1B5D-093A-A5123C57F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C2FA3A2-5BD6-1A67-8999-5D7E9621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42C796-D7ED-A51A-691C-1A6DCD7FB3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623" y="1640578"/>
            <a:ext cx="9815119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HTML, CSS, JS chat UI with voice support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Flask controller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Dialog flow for intent recognition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stores: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Json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knowledge base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panel for updating system data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Voice-enabled, multilingual ready, real-time response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185468-569A-1764-B957-AB596C4915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104529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8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22D36-3CD6-BF3A-B60D-B4916BEE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240918-706C-A9B6-7A53-E24B4A5609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01F273-051B-87EB-72D9-197497256C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5AC6A1-25FE-2FEA-600D-12AB0BC1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Algorithm :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8683A-12AB-AFE9-2F3F-FF12127D6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6" y="1132515"/>
            <a:ext cx="11921455" cy="5360360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  Natural Language Processing (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):(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and interpret user queries in natural language.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1) Sentence Segmentation.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2) Preprocessing.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3) Word Tokenization.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4) Response generate.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 Machine Learning algorithms :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1) Sequence to Sequence (seq2seq) models.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2) Recurrent Neural Networks (RNN).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Pattern Matching and Rule-based algorithms: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recognizing intent and mapping queries to appropriate responses.</a:t>
            </a:r>
          </a:p>
          <a:p>
            <a:pPr>
              <a:lnSpc>
                <a:spcPct val="10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IN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50304B5-2E46-71E9-C7A0-BAEAF95B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57DD851-D0E7-CEEC-B243-46D93331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B536BD-96E0-5808-0F37-4D647EF793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58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1EF4F-3874-24CF-7516-511BBC86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3878B98-B02A-3E81-7D24-A226179C6C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72637C-545D-9D1D-BAFE-6419CAF7E7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08C4D-80A0-E50B-A9B3-82C94B7F6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35853"/>
            <a:ext cx="11075571" cy="454111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</a:t>
            </a:r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Networks (ANNs)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more human-like conversation capabilities and improving over time with interaction data.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1) Data prepare : collecting of user queries.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2) Network design : 3 layers (input, hidden and output layers).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3) Prediction : If the queries are related or not.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5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QR Code Scanner Algorithms: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Detection Algorithms: Often use CNNs or Faster R-CNN frameworks to detect QR code 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regions images captured by mobile cameras.                      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2) Decoding Algorithms: ZXing ("Zebra Crossing") library and enhanced decoding methods </a:t>
            </a:r>
          </a:p>
          <a:p>
            <a:pPr marL="0" indent="0"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for extracting the embedded data (extracting of the data).</a:t>
            </a:r>
            <a:endParaRPr lang="en-IN" sz="38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D26B1CF6-6554-0C23-CC99-2486A89A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4234A41-071C-C697-DB05-057895656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563770-4471-4B8C-7A03-16E3C3B695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65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A6910-85AD-18EE-E54B-C2EEFFF07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BCE12B-69E9-2CB6-5C88-5D7C8F6952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65761" y="188627"/>
            <a:ext cx="1272845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707778-2008-447E-BD47-9C66C5E3D0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9DEE0B5-6E9B-7453-50CC-45374DEC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605" y="365125"/>
            <a:ext cx="9438771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             9.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and Discussions</a:t>
            </a:r>
            <a:endParaRPr lang="en-IN" sz="4000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FC374B6-AD36-F1FD-D987-C54B97453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0E8C4FD-9988-EAA1-C9C8-604393EB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51FC9C-909F-C85A-D352-A9C962552EC3}"/>
              </a:ext>
            </a:extLst>
          </p:cNvPr>
          <p:cNvSpPr txBox="1"/>
          <p:nvPr/>
        </p:nvSpPr>
        <p:spPr>
          <a:xfrm>
            <a:off x="276837" y="1690688"/>
            <a:ext cx="2223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WEB BASED:</a:t>
            </a:r>
            <a:endParaRPr lang="en-IN" sz="2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AB5B42-3186-4E45-8BCF-19BE7BC2B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70" y="2152353"/>
            <a:ext cx="5885829" cy="38988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A3628A-BF11-640B-BFFB-E9363E97A7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814" y="2152352"/>
            <a:ext cx="5777674" cy="38988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7C35BF-C745-ADFD-3F71-E3327ECA1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9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29F36-D27F-E61D-A43A-17637C65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C00488-6503-6844-0434-F2BBA19CBB2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1" y="188627"/>
            <a:ext cx="1338606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D581D4-1FE7-BF6C-4F96-631AECC178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47F6413-30CF-99BA-4081-0BAEB1DC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33021" y="6483612"/>
            <a:ext cx="41148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Dept of CSE, MRIT, Mandya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41BD51-D1EE-50AB-62EA-9F7377D3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6755"/>
            <a:ext cx="274320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0801F3-56C6-9087-634A-46489D88C1DE}"/>
              </a:ext>
            </a:extLst>
          </p:cNvPr>
          <p:cNvSpPr txBox="1"/>
          <p:nvPr/>
        </p:nvSpPr>
        <p:spPr>
          <a:xfrm>
            <a:off x="1644242" y="545284"/>
            <a:ext cx="309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MOBILE BASED ACCESS:</a:t>
            </a:r>
            <a:endParaRPr lang="en-IN" b="1" dirty="0"/>
          </a:p>
        </p:txBody>
      </p:sp>
      <p:pic>
        <p:nvPicPr>
          <p:cNvPr id="6" name="Content Placeholder 15">
            <a:extLst>
              <a:ext uri="{FF2B5EF4-FFF2-40B4-BE49-F238E27FC236}">
                <a16:creationId xmlns:a16="http://schemas.microsoft.com/office/drawing/2014/main" id="{94B8CAD8-83B6-3624-817A-FF499D2996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54" y="2280463"/>
            <a:ext cx="2577513" cy="257237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D1268F-D19C-6BAB-A0E7-155A837E2A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156" y="1222015"/>
            <a:ext cx="2437786" cy="54173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477C28-EEA7-0F07-1BB3-AEDB1459D73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214" y="1222015"/>
            <a:ext cx="2437786" cy="54173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2C4EA3-0C96-E29F-6E55-0853F1842E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9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BF0F1-51CC-7913-24DA-6FB6D441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8192" y="136526"/>
            <a:ext cx="7231310" cy="108826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10. Conclusion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9A8E1-5993-F5BF-DD35-B7587FF93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The AI‑Powered Web Helpdesk streamlines campus communication by providing instant, reliable information through an AI chatbot.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 It reduces administrative workload, minimizes delays, and ensures 24/7 accessibility for students, parents, and visitors.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With an easy‑to‑use dashboard for updates, the system enhances user experience, improves accessibility, and supports the digital transformation of educational institutions.</a:t>
            </a: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19EE2D-EF4F-9820-AA12-75626463A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ECE53-0395-8C19-5840-DAC3025F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A6F37B-6688-8028-CAB3-2D4042AFB2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086222-4D71-988C-3349-E75FC22937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463" t="12319" r="6410" b="9420"/>
          <a:stretch>
            <a:fillRect/>
          </a:stretch>
        </p:blipFill>
        <p:spPr bwMode="auto">
          <a:xfrm>
            <a:off x="1" y="188627"/>
            <a:ext cx="1338606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8551F3-4E3E-1673-2BB0-3C8E52FCE0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3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91B95-A405-D29D-C00F-BBEB6AF60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075" y="365125"/>
            <a:ext cx="7206144" cy="1325563"/>
          </a:xfrm>
        </p:spPr>
        <p:txBody>
          <a:bodyPr/>
          <a:lstStyle/>
          <a:p>
            <a:r>
              <a:rPr lang="en-US" b="1" dirty="0"/>
              <a:t>             11.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28006-205B-2B77-E630-0B8EFED8F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r>
              <a:rPr lang="en-IN" dirty="0"/>
              <a:t>Janapreethi S., Janapriya S., Sarulatha M., &amp; Hemalaskhmi G.R. – </a:t>
            </a:r>
            <a:r>
              <a:rPr lang="en-IN" i="1" dirty="0"/>
              <a:t>College Enquiry Chatbot</a:t>
            </a:r>
            <a:r>
              <a:rPr lang="en-IN" dirty="0"/>
              <a:t>, ViTECoN 2023, IEEE.</a:t>
            </a:r>
          </a:p>
          <a:p>
            <a:r>
              <a:rPr lang="en-IN" dirty="0"/>
              <a:t>Tipe‑Palomino D., &amp; Auccahuasi W. – </a:t>
            </a:r>
            <a:r>
              <a:rPr lang="en-IN" i="1" dirty="0"/>
              <a:t>Helpdesk Chatbot using NLP &amp; Deep Learning</a:t>
            </a:r>
            <a:r>
              <a:rPr lang="en-IN" dirty="0"/>
              <a:t>, ICACRS 2024, IEEE.</a:t>
            </a:r>
          </a:p>
          <a:p>
            <a:r>
              <a:rPr lang="en-IN" dirty="0"/>
              <a:t>ChatGPT.</a:t>
            </a:r>
          </a:p>
          <a:p>
            <a:r>
              <a:rPr lang="en-IN" dirty="0"/>
              <a:t>Perplexity AI.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5FFF3-1142-3592-C5DE-4DDCE5267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CSE, MRIT, Mandya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963008-095A-17DF-56A2-1F86E6CF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E0FF02-2C43-0CE3-1535-1A5C63DB9F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63" t="12319" r="6410" b="9420"/>
          <a:stretch>
            <a:fillRect/>
          </a:stretch>
        </p:blipFill>
        <p:spPr bwMode="auto">
          <a:xfrm>
            <a:off x="1" y="188627"/>
            <a:ext cx="1338606" cy="120459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7BAEE5-57B7-9FD2-9C8C-C6B467EE4C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014" t="22083" r="23461" b="16574"/>
          <a:stretch>
            <a:fillRect/>
          </a:stretch>
        </p:blipFill>
        <p:spPr bwMode="auto">
          <a:xfrm>
            <a:off x="10777377" y="102770"/>
            <a:ext cx="1136394" cy="137631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6C5F74-128C-874F-5BD7-38847FF09B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377" y="94697"/>
            <a:ext cx="1348862" cy="134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2029</TotalTime>
  <Words>1354</Words>
  <Application>Microsoft Office PowerPoint</Application>
  <PresentationFormat>Widescreen</PresentationFormat>
  <Paragraphs>190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PowerPoint Presentation</vt:lpstr>
      <vt:lpstr>                1. Problem Statement       </vt:lpstr>
      <vt:lpstr>                      2. Introduction </vt:lpstr>
      <vt:lpstr>                   3. Motivation </vt:lpstr>
      <vt:lpstr>                  4. Literature Survey </vt:lpstr>
      <vt:lpstr>                     5. Objectives </vt:lpstr>
      <vt:lpstr>                  6. Methodology </vt:lpstr>
      <vt:lpstr>   How the methodology works :</vt:lpstr>
      <vt:lpstr>                7. Design Specifications       (Hardware and Software Requirements) </vt:lpstr>
      <vt:lpstr>                                                                                          Software Requirements :</vt:lpstr>
      <vt:lpstr>                8. Implementation </vt:lpstr>
      <vt:lpstr>                       Algorithm :</vt:lpstr>
      <vt:lpstr>PowerPoint Presentation</vt:lpstr>
      <vt:lpstr>             9. Results and Discussions</vt:lpstr>
      <vt:lpstr>PowerPoint Presentation</vt:lpstr>
      <vt:lpstr>              10. Conclusion </vt:lpstr>
      <vt:lpstr>             11. 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Ravindra TC</dc:creator>
  <cp:lastModifiedBy>keerthana m</cp:lastModifiedBy>
  <cp:revision>38</cp:revision>
  <dcterms:created xsi:type="dcterms:W3CDTF">2025-08-18T05:19:52Z</dcterms:created>
  <dcterms:modified xsi:type="dcterms:W3CDTF">2026-01-08T13:59:18Z</dcterms:modified>
</cp:coreProperties>
</file>